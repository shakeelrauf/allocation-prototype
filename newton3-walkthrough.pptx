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Behaviour score</c:v>
                </c:pt>
              </c:strCache>
            </c:strRef>
          </c:tx>
          <c:spPr>
            <a:solidFill>
              <a:srgbClr val="4F6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7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alex</c:v>
                  </c:pt>
                  <c:pt idx="1">
                    <c:v>alice</c:v>
                  </c:pt>
                  <c:pt idx="2">
                    <c:v>bruno</c:v>
                  </c:pt>
                  <c:pt idx="3">
                    <c:v>shakeel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7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E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b"/>
        <c:majorGridlines>
          <c:spPr>
            <a:ln w="6350" cap="flat">
              <a:solidFill>
                <a:srgbClr val="1B24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E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130"/>
        </a:solidFill>
        <a:ln>
          <a:noFill/>
        </a:ln>
        <a:effectLst/>
      </c:spPr>
    </c:plotArea>
    <c:plotVisOnly val="1"/>
    <c:dispBlanksAs val="span"/>
  </c:chart>
  <c:spPr>
    <a:solidFill>
      <a:srgbClr val="0A11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3BCD9"/>
              </a:solidFill>
              <a:ln w="25400" cap="flat">
                <a:solidFill>
                  <a:srgbClr val="0A113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88B3F"/>
              </a:solidFill>
              <a:ln w="25400" cap="flat">
                <a:solidFill>
                  <a:srgbClr val="0A1130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2C744"/>
              </a:solidFill>
              <a:ln w="25400" cap="flat">
                <a:solidFill>
                  <a:srgbClr val="0A1130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BD4FF"/>
              </a:solidFill>
              <a:ln w="25400" cap="flat">
                <a:solidFill>
                  <a:srgbClr val="0A1130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F26C7C"/>
              </a:solidFill>
              <a:ln w="25400" cap="flat">
                <a:solidFill>
                  <a:srgbClr val="0A113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Silver</c:v>
                </c:pt>
                <c:pt idx="1">
                  <c:v>Bronze</c:v>
                </c:pt>
                <c:pt idx="2">
                  <c:v>Gold</c:v>
                </c:pt>
                <c:pt idx="3">
                  <c:v>Platinum</c:v>
                </c:pt>
                <c:pt idx="4">
                  <c:v>Restricted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firstSliceAng val="0"/>
        <c:holeSize val="50"/>
      </c:doughnutChart>
      <c:spPr>
        <a:solidFill>
          <a:srgbClr val="0A11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3AE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1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457200"/>
            <a:ext cx="1280160" cy="1280160"/>
          </a:xfrm>
          <a:prstGeom prst="ellipse">
            <a:avLst/>
          </a:prstGeom>
          <a:solidFill>
            <a:srgbClr val="4F6BFF">
              <a:alpha val="40000"/>
            </a:srgbClr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029200"/>
            <a:ext cx="2011680" cy="2011680"/>
          </a:xfrm>
          <a:prstGeom prst="ellipse">
            <a:avLst/>
          </a:prstGeom>
          <a:solidFill>
            <a:srgbClr val="9BD4FF">
              <a:alpha val="20000"/>
            </a:srgbClr>
          </a:solidFill>
          <a:ln w="12700">
            <a:solidFill>
              <a:srgbClr val="9B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WAYLEADR · HACKATHON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 3.0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3AE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Behaviour-driven allocation, with explainable rankings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3474720" cy="12801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6BFF"/>
                </a:solidFill>
              </a:rPr>
              <a:t>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React · SQLite · Ollama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4572000"/>
            <a:ext cx="3474720" cy="12801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6BFF"/>
                </a:solidFill>
              </a:rPr>
              <a:t>SURFACE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5029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Events · Allocation ·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572000"/>
            <a:ext cx="3474720" cy="12801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4709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4F6BFF"/>
                </a:solidFill>
              </a:rPr>
              <a:t>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5029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key + tiers + explainability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AAB"/>
                </a:solidFill>
              </a:rPr>
              <a:t>Shakeel Rauf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NEWTON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ad-hoc allocation with explainable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counts: no_shows, offences, random tie-break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 for good behaviour (carpool, gate entry)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tiers, no headroom, no decay back to neutral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answer: "why didn't I get a space?"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tuning lives in code, not config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03520" cy="43891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19456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score on a 0–200 scale, base 100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+ capped rewards + weekly decay to base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tiers, Restricted carve-out at the sort layer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sort key, deterministic with a seed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Per-group weight overrides via tenant admin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structured explainability for every rank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Single-port stack, swappable persistence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011680" cy="10972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73152" cy="10972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042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Vite · TypeScript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2194560"/>
            <a:ext cx="2194560" cy="10972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2194560"/>
            <a:ext cx="73152" cy="10972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304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api.py · pydantic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0"/>
            <a:ext cx="2194560" cy="10972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371600"/>
            <a:ext cx="73152" cy="1097280"/>
          </a:xfrm>
          <a:prstGeom prst="rect">
            <a:avLst/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481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event_processor.py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2194560" cy="10972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926080"/>
            <a:ext cx="73152" cy="1097280"/>
          </a:xfrm>
          <a:prstGeom prst="rect">
            <a:avLst/>
          </a:prstGeom>
          <a:solidFill>
            <a:srgbClr val="3FD17C"/>
          </a:solidFill>
          <a:ln w="12700">
            <a:solidFill>
              <a:srgbClr val="3FD1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0358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allocation_engine.py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480560"/>
            <a:ext cx="2194560" cy="10972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480560"/>
            <a:ext cx="73152" cy="109728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5902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5212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shadow_engine.py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09760" y="2194560"/>
            <a:ext cx="2103120" cy="10972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09760" y="2194560"/>
            <a:ext cx="73152" cy="1097280"/>
          </a:xfrm>
          <a:prstGeom prst="rect">
            <a:avLst/>
          </a:prstGeom>
          <a:solidFill>
            <a:srgbClr val="9BD4FF"/>
          </a:solidFill>
          <a:ln w="12700">
            <a:solidFill>
              <a:srgbClr val="9B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2304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SqliteStore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single-file 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09760" y="4114800"/>
            <a:ext cx="2103120" cy="10972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509760" y="4114800"/>
            <a:ext cx="73152" cy="1097280"/>
          </a:xfrm>
          <a:prstGeom prst="rect">
            <a:avLst/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4224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926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optional · :11434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0" y="2743200"/>
            <a:ext cx="731520" cy="0"/>
          </a:xfrm>
          <a:prstGeom prst="line">
            <a:avLst/>
          </a:prstGeom>
          <a:noFill/>
          <a:ln w="25400">
            <a:solidFill>
              <a:srgbClr val="4F6BF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852160" y="2743200"/>
            <a:ext cx="731520" cy="-822960"/>
          </a:xfrm>
          <a:prstGeom prst="line">
            <a:avLst/>
          </a:prstGeom>
          <a:noFill/>
          <a:ln w="25400">
            <a:solidFill>
              <a:srgbClr val="4F6B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852160" y="2743200"/>
            <a:ext cx="731520" cy="731520"/>
          </a:xfrm>
          <a:prstGeom prst="line">
            <a:avLst/>
          </a:prstGeom>
          <a:noFill/>
          <a:ln w="25400">
            <a:solidFill>
              <a:srgbClr val="4F6B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852160" y="2743200"/>
            <a:ext cx="731520" cy="2286000"/>
          </a:xfrm>
          <a:prstGeom prst="line">
            <a:avLst/>
          </a:prstGeom>
          <a:noFill/>
          <a:ln w="25400">
            <a:solidFill>
              <a:srgbClr val="4F6BF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778240" y="1920240"/>
            <a:ext cx="731520" cy="685800"/>
          </a:xfrm>
          <a:prstGeom prst="line">
            <a:avLst/>
          </a:prstGeom>
          <a:noFill/>
          <a:ln w="25400">
            <a:solidFill>
              <a:srgbClr val="4F6BF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78240" y="3474720"/>
            <a:ext cx="731520" cy="-640080"/>
          </a:xfrm>
          <a:prstGeom prst="line">
            <a:avLst/>
          </a:prstGeom>
          <a:noFill/>
          <a:ln w="25400">
            <a:solidFill>
              <a:srgbClr val="4F6BF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778240" y="5029200"/>
            <a:ext cx="731520" cy="-457200"/>
          </a:xfrm>
          <a:prstGeom prst="line">
            <a:avLst/>
          </a:prstGeom>
          <a:noFill/>
          <a:ln w="25400">
            <a:solidFill>
              <a:srgbClr val="4F6BF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ScoreStore Protocol</a:t>
            </a:r>
            <a:pPr indent="0" marL="0">
              <a:buNone/>
            </a:pPr>
            <a:r>
              <a:rPr lang="en-US" sz="1200" dirty="0">
                <a:solidFill>
                  <a:srgbClr val="6F7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InMemoryStore for tests · SqliteStore for demos · same surface either way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9728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</a:t>
            </a:r>
            <a:pPr indent="0" marL="0">
              <a:buNone/>
            </a:pPr>
            <a:r>
              <a:rPr lang="en-US" sz="1200" dirty="0">
                <a:solidFill>
                  <a:srgbClr val="6F7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auto-probes localhost:11434 — falls back to a deterministic template if absent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GROUPS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the team / parking pool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1148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group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Lower group priority ranks earlier in allocation.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Group 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Group priority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66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16052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60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 / update group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AAB"/>
                </a:solidFill>
              </a:rPr>
              <a:t>admin-controlled · stored in `groups` table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554480"/>
            <a:ext cx="4754880" cy="41148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21031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</a:rPr>
              <a:t>Stable identifier (engineering / success / ops)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29260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group_priority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3182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</a:rPr>
              <a:t>Lower number = wins ties earlier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37490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impact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40050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</a:rPr>
              <a:t>First key in the four-layer ranking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45720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lives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48280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</a:rPr>
              <a:t>groups + tenant_config tables in SQLite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USERS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users into a group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1148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user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Pick a group, then set this user's individual priority.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User 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Group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(allocation prio 3)   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User priority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02336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262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26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Save user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1554480"/>
            <a:ext cx="4754880" cy="41148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660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210312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7FF"/>
                </a:solidFill>
              </a:rPr>
              <a:t>Group priority comes from the group — applies to everyone in it.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7FF"/>
                </a:solidFill>
              </a:rPr>
              <a:t>User priority is a per-person admin override (e.g. C-level = 1).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7FF"/>
                </a:solidFill>
              </a:rPr>
              <a:t>Score is NOT set here — every user starts at 100 (Silver).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F7FF"/>
                </a:solidFill>
              </a:rPr>
              <a:t>Behaviour score is earned/lost through events later.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starts at base 100 — Silver 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0058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3AEDD"/>
                </a:solidFill>
              </a:rPr>
              <a:t>GROUPS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51760" cy="10058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3AEDD"/>
                </a:solidFill>
              </a:rPr>
              <a:t>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51760" cy="10058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3AEDD"/>
                </a:solidFill>
              </a:rPr>
              <a:t>EVENTS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651760" cy="10058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3AEDD"/>
                </a:solidFill>
              </a:rPr>
              <a:t>BASE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35440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6858000" cy="32918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880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 scores by user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0080" y="3246120"/>
          <a:ext cx="6675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589520" y="2743200"/>
            <a:ext cx="4023360" cy="32918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81812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mix</a:t>
            </a:r>
            <a:endParaRPr lang="en-US" sz="13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7680960" y="320040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781812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AAB"/>
                </a:solidFill>
              </a:rPr>
              <a:t>All four users land in Silver until events arrive.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EVENTS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signals — score reacts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5720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single event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Event 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booking.created   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· success   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Payload JSON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4572000" cy="731520"/>
          </a:xfrm>
          <a:prstGeom prst="roundRect">
            <a:avLst>
              <a:gd name="adj" fmla="val 625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"weeks": 2 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57200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 event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Presets:  weekly_decay ×1  ·  weekly_decay ×4  ·  clear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AAB"/>
                </a:solidFill>
              </a:rPr>
              <a:t>Bulk: paste NDJSON in the Event stream box below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554480"/>
            <a:ext cx="5760720" cy="45720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scoring rules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148840"/>
          <a:ext cx="5303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unused_booking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6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no-show on a booked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free_space_used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6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took a free space — small penalty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offence.reported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6C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report (admin / ANPR)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carpool.detected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FD1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28-day cap of +20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weekly_decay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FD1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+2/w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 toward base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19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booking.created · booking.completed · gate.entry_detected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3A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for audit, no score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162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ALLOCATION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pool, set a seed, get a ranking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&amp; seed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Choose who competes. Lower group_priority = higher preferred group.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164592" cy="164592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alex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2377440"/>
            <a:ext cx="164592" cy="164592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3317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alice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2377440"/>
            <a:ext cx="164592" cy="164592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3317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bruno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69080" y="2377440"/>
            <a:ext cx="164592" cy="164592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33172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shakeel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2B3766"/>
          </a:solidFill>
          <a:ln w="12700">
            <a:solidFill>
              <a:srgbClr val="2B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23774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2B3766"/>
          </a:solidFill>
          <a:ln w="12700">
            <a:solidFill>
              <a:srgbClr val="2B37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774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377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Seed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33172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200400"/>
            <a:ext cx="7040880" cy="31089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ranking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749040"/>
          <a:ext cx="65836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280160"/>
                <a:gridCol w="731520"/>
                <a:gridCol w="109728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bruno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BD4FF"/>
                          </a:solidFill>
                        </a:rPr>
                        <a:t>197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Platinum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FD17C"/>
                          </a:solidFill>
                        </a:rPr>
                        <a:t>✓ allocated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alice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3BCD9"/>
                          </a:solidFill>
                        </a:rPr>
                        <a:t>95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Silver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FD17C"/>
                          </a:solidFill>
                        </a:rPr>
                        <a:t>✓ allocated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alex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3BCD9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Silver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3AEDD"/>
                          </a:solidFill>
                        </a:rPr>
                        <a:t>rejected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26C7C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26C7C"/>
                          </a:solidFill>
                        </a:rPr>
                        <a:t>shakeel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6C7C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26C7C"/>
                          </a:solidFill>
                        </a:rPr>
                        <a:t>Restricted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26C7C"/>
                          </a:solidFill>
                        </a:rPr>
                        <a:t>rejected (Restricted)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7863840" y="3200400"/>
            <a:ext cx="3749040" cy="31089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09244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Allocate capacity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092440" y="3703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Spaces available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92440" y="393192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092440" y="448056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9244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Run allocation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092440" y="50749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7AAB"/>
                </a:solidFill>
              </a:rPr>
              <a:t>Winners are saved with a run id, seed, capacity, and pool.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TENANT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Per-group weight overrides without redeploying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2062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weights (per group_id)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Overrides default penalties / rewards / decay for users in that group.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Group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1051560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Select —   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no_show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3832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3154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free_space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33832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3154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offence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6200" y="33832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3154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carpool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33832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decay_per_week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95160" y="33832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49640" y="3154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reward_cap_total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9640" y="33832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04120" y="3154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reward_cap_window_days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04120" y="338328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02336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B3766"/>
          </a:solidFill>
          <a:ln w="12700">
            <a:solidFill>
              <a:srgbClr val="2B37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current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77440" y="40233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Save tenant config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466344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0A1130"/>
          </a:solidFill>
          <a:ln w="12700">
            <a:solidFill>
              <a:srgbClr val="0A11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tenant?  no_show 3 → 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466344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0A1130"/>
          </a:solidFill>
          <a:ln w="12700">
            <a:solidFill>
              <a:srgbClr val="0A11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Reward-friendly?  carpool 5 → 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58200" y="4663440"/>
            <a:ext cx="3657600" cy="411480"/>
          </a:xfrm>
          <a:prstGeom prst="roundRect">
            <a:avLst>
              <a:gd name="adj" fmla="val 11111"/>
            </a:avLst>
          </a:prstGeom>
          <a:solidFill>
            <a:srgbClr val="0A1130"/>
          </a:solidFill>
          <a:ln w="12700">
            <a:solidFill>
              <a:srgbClr val="0A11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recovery?  decay 2 →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AAB"/>
                </a:solidFill>
              </a:rPr>
              <a:t>Stored in `tenant_config` — `resolve_weights(store, user_id)` merges per request.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EXPLAIN &amp;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Plain-language ranking, grounded in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Focus 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484632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shakeel (Restricted)   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Seed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6974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this rank?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2697480"/>
            <a:ext cx="868680" cy="320040"/>
          </a:xfrm>
          <a:prstGeom prst="roundRect">
            <a:avLst>
              <a:gd name="adj" fmla="val 14286"/>
            </a:avLst>
          </a:prstGeom>
          <a:solidFill>
            <a:srgbClr val="2B3766"/>
          </a:solidFill>
          <a:ln w="12700">
            <a:solidFill>
              <a:srgbClr val="2B37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6974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2697480"/>
            <a:ext cx="868680" cy="320040"/>
          </a:xfrm>
          <a:prstGeom prst="roundRect">
            <a:avLst>
              <a:gd name="adj" fmla="val 14286"/>
            </a:avLst>
          </a:prstGeom>
          <a:solidFill>
            <a:srgbClr val="2B3766"/>
          </a:solidFill>
          <a:ln w="12700">
            <a:solidFill>
              <a:srgbClr val="2B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6974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/ 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chat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3657600"/>
            <a:ext cx="4846320" cy="1097280"/>
          </a:xfrm>
          <a:prstGeom prst="rect">
            <a:avLst/>
          </a:prstGeom>
          <a:solidFill>
            <a:srgbClr val="0A1130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749040"/>
            <a:ext cx="320040" cy="32004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7FF"/>
                </a:solidFill>
              </a:rPr>
              <a:t>Hi — I'm Shakeel, your Newton 3 allocation guide.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</a:rPr>
              <a:t>Ask anything about the ranking, or press Send with an empty box for a default summary.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" y="493776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0A1130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shakeel get restricted?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493776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937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554480"/>
            <a:ext cx="5486400" cy="457200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21945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C744"/>
                </a:solidFill>
              </a:rPr>
              <a:t>SNAPSHOT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4414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API gathers groups, profiles, events, allocation — same numbers as the dashboard.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971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C744"/>
                </a:solidFill>
              </a:rPr>
              <a:t>GROUND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218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LLM is told the precedence rules and forbidden from inventing numbers.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3749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C744"/>
                </a:solidFill>
              </a:rPr>
              <a:t>PROBE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995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Newton auto-detects Ollama on :11434 — no env vars in the happy path.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4526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C744"/>
                </a:solidFill>
              </a:rPr>
              <a:t>FALLBACK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4773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If no model is available, a deterministic template still narrates the rank.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53035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C744"/>
                </a:solidFill>
              </a:rPr>
              <a:t>MEMORY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5550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F"/>
                </a:solidFill>
              </a:rPr>
              <a:t>Multi-turn chat capped at 48 messages, ranking refreshed every send.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WHY THIS RANK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numbers, no AI required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737360"/>
          </a:xfrm>
          <a:prstGeom prst="rect">
            <a:avLst/>
          </a:prstGeom>
          <a:solidFill>
            <a:srgbClr val="0A1130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shakeel is rank 4 of 4 in this run.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Anyone ranked above them wins an earlier slot under Newton 3 rules: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 bruno  — rank=1: group_priority=1, user_priority=1, behavior_score=197.00, tier=Platinum, tie=0.2750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 alice  — rank=2: group_priority=3, user_priority=1, behavior_score=95.00,  tier=Silver,   tie=0.0250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 alex   — rank=3: group_priority=3, user_priority=2, behavior_score=90.00,  tier=Silver,   tie=0.6394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1064240" cy="28346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ranked above focus (shakeel)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977640"/>
          <a:ext cx="10515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280160"/>
                <a:gridCol w="1463040"/>
                <a:gridCol w="1280160"/>
                <a:gridCol w="1097280"/>
                <a:gridCol w="155448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Tie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bruno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BD4FF"/>
                          </a:solidFill>
                        </a:rPr>
                        <a:t>197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Platinum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0.275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alice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3BCD9"/>
                          </a:solidFill>
                        </a:rPr>
                        <a:t>95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Silver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0.025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alex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3BCD9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Silver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7FF"/>
                          </a:solidFill>
                        </a:rPr>
                        <a:t>0.639</a:t>
                      </a:r>
                      <a:endParaRPr lang="en-US" sz="1100" dirty="0"/>
                    </a:p>
                  </a:txBody>
                  <a:tcPr marL="50800" marR="508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772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AAB"/>
                </a:solidFill>
              </a:rPr>
              <a:t>Two paths to the same answer: structured rows above (Why this rank) and Markdown chat (LLM).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SERVICE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sort key, four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sort_key  =  (group_priority,   user_priority,   −behavior_score,   tie_breaker)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AEDD"/>
                </a:solidFill>
              </a:rPr>
              <a:t>ascending sort — lower wins each tier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706624" cy="29260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91840"/>
            <a:ext cx="2706624" cy="9144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29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group_priority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Admin layer — which team gets the 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32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6BFF"/>
                </a:solidFill>
              </a:rPr>
              <a:t>engineering=1 beats success=3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46704" y="3291840"/>
            <a:ext cx="2706624" cy="29260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46704" y="3291840"/>
            <a:ext cx="2706624" cy="91440"/>
          </a:xfrm>
          <a:prstGeom prst="rect">
            <a:avLst/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3429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C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9584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user_priority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9584" y="4343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Per-user override (C-level, contractors)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9584" y="5532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C744"/>
                </a:solidFill>
              </a:rPr>
              <a:t>user_priority=1 beats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3291840"/>
            <a:ext cx="2706624" cy="29260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3291840"/>
            <a:ext cx="2706624" cy="91440"/>
          </a:xfrm>
          <a:prstGeom prst="rect">
            <a:avLst/>
          </a:prstGeom>
          <a:solidFill>
            <a:srgbClr val="3FD17C"/>
          </a:solidFill>
          <a:ln w="12700">
            <a:solidFill>
              <a:srgbClr val="3FD1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429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D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27648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−behavior_score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4343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Carrot/stick layer · the only behavioural lever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5532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D17C"/>
                </a:solidFill>
              </a:rPr>
              <a:t>score 197 (Platinum) beats 95 (Silver)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42832" y="3291840"/>
            <a:ext cx="2706624" cy="292608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42832" y="3291840"/>
            <a:ext cx="2706624" cy="9144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5712" y="3429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25712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tie_breaker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25712" y="4343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Deterministic random, seeded for repeatable demos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25712" y="5532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3BCD9"/>
                </a:solidFill>
              </a:rPr>
              <a:t>tie=0.025 beats tie=0.639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ranking — four eligible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691640"/>
          </a:xfrm>
          <a:prstGeom prst="rect">
            <a:avLst/>
          </a:prstGeom>
          <a:solidFill>
            <a:srgbClr val="0A1130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365760" cy="36576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71907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 — four users in two groups, plus their events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057400"/>
          <a:ext cx="10058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280160"/>
                <a:gridCol w="1280160"/>
                <a:gridCol w="3657600"/>
                <a:gridCol w="12801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group_priority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user_priority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 (events)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376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bruno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engineering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BD4FF"/>
                          </a:solidFill>
                        </a:rPr>
                        <a:t>197  (+5 × 12 carpools, capped + decay)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Platinum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alice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success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3BCD9"/>
                          </a:solidFill>
                        </a:rPr>
                        <a:t>95   (−5 offence)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Silver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alex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success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3BCD9"/>
                          </a:solidFill>
                        </a:rPr>
                        <a:t>90   (−3 no-show, −1 free space, +2 decay)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Silver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shakeel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success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88B3F"/>
                          </a:solidFill>
                        </a:rPr>
                        <a:t>70   (−5×6 offences, +2 decay)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F7FF"/>
                          </a:solidFill>
                        </a:rPr>
                        <a:t>Bronze</a:t>
                      </a:r>
                      <a:endParaRPr lang="en-US" sz="1000" dirty="0"/>
                    </a:p>
                  </a:txBody>
                  <a:tcPr marL="38100" marR="381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337560"/>
            <a:ext cx="11064240" cy="1280160"/>
          </a:xfrm>
          <a:prstGeom prst="rect">
            <a:avLst/>
          </a:prstGeom>
          <a:solidFill>
            <a:srgbClr val="0A1130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350215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sort key for each user — (group_priority, user_priority, −score, tie)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3794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bruno   → ( 1, 1, −197, 0.275 )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  → ( 3, 1,  −95, 0.025 )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    → ( 3, 2,  −90, 0.639 )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4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shakeel → ( 3, 3,  −70, 0.812 )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709160"/>
            <a:ext cx="11064240" cy="1600200"/>
          </a:xfrm>
          <a:prstGeom prst="rect">
            <a:avLst/>
          </a:prstGeom>
          <a:solidFill>
            <a:srgbClr val="0A1130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4846320"/>
            <a:ext cx="365760" cy="36576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8720" y="487375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Ascending sort — final ranking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" y="5212080"/>
            <a:ext cx="2286000" cy="960120"/>
          </a:xfrm>
          <a:prstGeom prst="rect">
            <a:avLst/>
          </a:prstGeom>
          <a:solidFill>
            <a:srgbClr val="13193A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14400" y="5212080"/>
            <a:ext cx="73152" cy="960120"/>
          </a:xfrm>
          <a:prstGeom prst="rect">
            <a:avLst/>
          </a:prstGeom>
          <a:solidFill>
            <a:srgbClr val="9BD4FF"/>
          </a:solidFill>
          <a:ln w="12700">
            <a:solidFill>
              <a:srgbClr val="9BD4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5303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54480" y="5321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bruno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54480" y="5669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Platinum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46120" y="5687568"/>
            <a:ext cx="365760" cy="0"/>
          </a:xfrm>
          <a:prstGeom prst="line">
            <a:avLst/>
          </a:prstGeom>
          <a:noFill/>
          <a:ln w="25400">
            <a:solidFill>
              <a:srgbClr val="A3AEDD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611880" y="5212080"/>
            <a:ext cx="2286000" cy="960120"/>
          </a:xfrm>
          <a:prstGeom prst="rect">
            <a:avLst/>
          </a:prstGeom>
          <a:solidFill>
            <a:srgbClr val="13193A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11880" y="5212080"/>
            <a:ext cx="73152" cy="96012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94760" y="5303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251960" y="5321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alice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251960" y="5669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Silver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0" y="5687568"/>
            <a:ext cx="365760" cy="0"/>
          </a:xfrm>
          <a:prstGeom prst="line">
            <a:avLst/>
          </a:prstGeom>
          <a:noFill/>
          <a:ln w="25400">
            <a:solidFill>
              <a:srgbClr val="A3AED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309360" y="5212080"/>
            <a:ext cx="2286000" cy="960120"/>
          </a:xfrm>
          <a:prstGeom prst="rect">
            <a:avLst/>
          </a:prstGeom>
          <a:solidFill>
            <a:srgbClr val="13193A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09360" y="5212080"/>
            <a:ext cx="73152" cy="96012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5303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949440" y="5321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alex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9440" y="5669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Silver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641080" y="5687568"/>
            <a:ext cx="365760" cy="0"/>
          </a:xfrm>
          <a:prstGeom prst="line">
            <a:avLst/>
          </a:prstGeom>
          <a:noFill/>
          <a:ln w="25400">
            <a:solidFill>
              <a:srgbClr val="A3AEDD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006840" y="5212080"/>
            <a:ext cx="2286000" cy="960120"/>
          </a:xfrm>
          <a:prstGeom prst="rect">
            <a:avLst/>
          </a:prstGeom>
          <a:solidFill>
            <a:srgbClr val="13193A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9006840" y="5212080"/>
            <a:ext cx="73152" cy="960120"/>
          </a:xfrm>
          <a:prstGeom prst="rect">
            <a:avLst/>
          </a:prstGeom>
          <a:solidFill>
            <a:srgbClr val="D88B3F"/>
          </a:solidFill>
          <a:ln w="12700">
            <a:solidFill>
              <a:srgbClr val="D88B3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89720" y="5303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8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646920" y="53218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shakeel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646920" y="5669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Bronze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Restricted carve-out — protect the pool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drops below 50 points — Restricted. The sort layer pushes them after every eligible user, even when they have lower group/user priority.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94960" cy="35661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Naïve sort  (no carve-out)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17520"/>
            <a:ext cx="54864" cy="548640"/>
          </a:xfrm>
          <a:prstGeom prst="rect">
            <a:avLst/>
          </a:prstGeom>
          <a:solidFill>
            <a:srgbClr val="F26C7C"/>
          </a:solidFill>
          <a:ln w="12700">
            <a:solidFill>
              <a:srgbClr val="F26C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shakeel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Restricted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(1,1,−42,0.50)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57600"/>
            <a:ext cx="54864" cy="548640"/>
          </a:xfrm>
          <a:prstGeom prst="rect">
            <a:avLst/>
          </a:prstGeom>
          <a:solidFill>
            <a:srgbClr val="9BD4FF"/>
          </a:solidFill>
          <a:ln w="12700">
            <a:solidFill>
              <a:srgbClr val="9B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bruno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Platinum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(1,2,−197,0.27)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97680"/>
            <a:ext cx="54864" cy="54864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343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alice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Silver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(3,1,−95,0.02)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493776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937760"/>
            <a:ext cx="54864" cy="54864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alex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06040" y="4983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Silver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20440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(3,2,−90,0.64)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" y="3017520"/>
            <a:ext cx="4937760" cy="548640"/>
          </a:xfrm>
          <a:prstGeom prst="rect">
            <a:avLst/>
          </a:prstGeom>
          <a:solidFill>
            <a:srgbClr val="F26C7C">
              <a:alpha val="25000"/>
            </a:srgbClr>
          </a:solidFill>
          <a:ln w="19050">
            <a:solidFill>
              <a:srgbClr val="F26C7C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77240" y="5669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6C7C"/>
                </a:solidFill>
              </a:rPr>
              <a:t>Restricted user wins a slot — wrong.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468880"/>
            <a:ext cx="5394960" cy="356616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4652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 3  (eligible first, Restricted last)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301752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3017520"/>
            <a:ext cx="54864" cy="548640"/>
          </a:xfrm>
          <a:prstGeom prst="rect">
            <a:avLst/>
          </a:prstGeom>
          <a:solidFill>
            <a:srgbClr val="9BD4FF"/>
          </a:solidFill>
          <a:ln w="12700">
            <a:solidFill>
              <a:srgbClr val="9B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8660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bruno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7532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Platinum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8972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eligible · (1,2,−197,0.27)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46520" y="365760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3657600"/>
            <a:ext cx="54864" cy="54864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8660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alice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27532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Silver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18972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eligible · (3,1,−95,0.02)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46520" y="429768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46520" y="4297680"/>
            <a:ext cx="54864" cy="548640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086600" y="4343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alex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27532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Silver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18972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eligible · (3,2,−90,0.64)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46520" y="4937760"/>
            <a:ext cx="4937760" cy="548640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46520" y="4937760"/>
            <a:ext cx="54864" cy="548640"/>
          </a:xfrm>
          <a:prstGeom prst="rect">
            <a:avLst/>
          </a:prstGeom>
          <a:solidFill>
            <a:srgbClr val="F26C7C"/>
          </a:solidFill>
          <a:ln w="12700">
            <a:solidFill>
              <a:srgbClr val="F26C7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086600" y="4983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</a:rPr>
              <a:t>shakeel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275320" y="4983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Restricted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89720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Restricted · pushed last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46520" y="4937760"/>
            <a:ext cx="4937760" cy="548640"/>
          </a:xfrm>
          <a:prstGeom prst="rect">
            <a:avLst/>
          </a:prstGeom>
          <a:solidFill>
            <a:srgbClr val="F26C7C">
              <a:alpha val="25000"/>
            </a:srgbClr>
          </a:solidFill>
          <a:ln w="19050">
            <a:solidFill>
              <a:srgbClr val="F26C7C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6446520" y="5669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D17C"/>
                </a:solidFill>
              </a:rPr>
              <a:t>Restricted falls to the bottom even with priority=1.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7AAB"/>
                </a:solidFill>
              </a:rPr>
              <a:t>How it's done — `rank_users()` splits the pool into eligible vs Restricted, sorts each, then concatenates eligible + Restricted.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— winners and rejections, fully audited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F"/>
                </a:solidFill>
              </a:rPr>
              <a:t>Same ranking as Example 1. Capacity = 2. Top of the ranked list takes the slots; everyone else is rejected with an explanation.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15184" cy="9601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68880"/>
            <a:ext cx="73152" cy="96012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(4)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bruno, alice, alex, shakeel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63824" y="2953512"/>
            <a:ext cx="740664" cy="0"/>
          </a:xfrm>
          <a:prstGeom prst="line">
            <a:avLst/>
          </a:prstGeom>
          <a:noFill/>
          <a:ln w="25400">
            <a:solidFill>
              <a:srgbClr val="A3AED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55848" y="2468880"/>
            <a:ext cx="2615184" cy="9601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2468880"/>
            <a:ext cx="73152" cy="960120"/>
          </a:xfrm>
          <a:prstGeom prst="rect">
            <a:avLst/>
          </a:prstGeom>
          <a:solidFill>
            <a:srgbClr val="F2C744"/>
          </a:solidFill>
          <a:ln w="12700">
            <a:solidFill>
              <a:srgbClr val="F2C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8728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ascending sort_key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71032" y="2953512"/>
            <a:ext cx="3547872" cy="0"/>
          </a:xfrm>
          <a:prstGeom prst="line">
            <a:avLst/>
          </a:prstGeom>
          <a:noFill/>
          <a:ln w="25400">
            <a:solidFill>
              <a:srgbClr val="A3AED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2468880"/>
            <a:ext cx="2615184" cy="9601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2468880"/>
            <a:ext cx="73152" cy="960120"/>
          </a:xfrm>
          <a:prstGeom prst="rect">
            <a:avLst/>
          </a:prstGeom>
          <a:solidFill>
            <a:srgbClr val="3FD17C"/>
          </a:solidFill>
          <a:ln w="12700">
            <a:solidFill>
              <a:srgbClr val="3FD1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5936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capacity = 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78240" y="2953512"/>
            <a:ext cx="6355080" cy="0"/>
          </a:xfrm>
          <a:prstGeom prst="line">
            <a:avLst/>
          </a:prstGeom>
          <a:noFill/>
          <a:ln w="25400">
            <a:solidFill>
              <a:srgbClr val="A3AED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70264" y="2468880"/>
            <a:ext cx="2615184" cy="9601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70264" y="2468880"/>
            <a:ext cx="73152" cy="960120"/>
          </a:xfrm>
          <a:prstGeom prst="rect">
            <a:avLst/>
          </a:prstGeom>
          <a:solidFill>
            <a:srgbClr val="9BD4FF"/>
          </a:solidFill>
          <a:ln w="12700">
            <a:solidFill>
              <a:srgbClr val="9B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2542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run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53144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EDD"/>
                </a:solidFill>
              </a:rPr>
              <a:t>id, seed=42, winners[]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57600"/>
            <a:ext cx="11064240" cy="2560320"/>
          </a:xfrm>
          <a:prstGeom prst="rect">
            <a:avLst/>
          </a:prstGeom>
          <a:solidFill>
            <a:srgbClr val="1B2447"/>
          </a:solidFill>
          <a:ln w="9525">
            <a:solidFill>
              <a:srgbClr val="2B376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794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B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Allocation result  ·  run_id=17  ·  seed=42  ·  capacity=2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515600" cy="384048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206240"/>
            <a:ext cx="54864" cy="384048"/>
          </a:xfrm>
          <a:prstGeom prst="rect">
            <a:avLst/>
          </a:prstGeom>
          <a:solidFill>
            <a:srgbClr val="9BD4FF"/>
          </a:solidFill>
          <a:ln w="12700">
            <a:solidFill>
              <a:srgbClr val="9B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206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4206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bruno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71800" y="4206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Platinum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42062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D17C"/>
                </a:solidFill>
              </a:rPr>
              <a:t>✓ allocated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4663440"/>
            <a:ext cx="10515600" cy="384048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4663440"/>
            <a:ext cx="54864" cy="384048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663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63040" y="4663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alice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971800" y="4663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Silver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46634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D17C"/>
                </a:solidFill>
              </a:rPr>
              <a:t>✓ allocated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" y="5120640"/>
            <a:ext cx="10515600" cy="384048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" y="5120640"/>
            <a:ext cx="54864" cy="384048"/>
          </a:xfrm>
          <a:prstGeom prst="rect">
            <a:avLst/>
          </a:prstGeom>
          <a:solidFill>
            <a:srgbClr val="B3BCD9"/>
          </a:solidFill>
          <a:ln w="12700">
            <a:solidFill>
              <a:srgbClr val="B3BC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120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BC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63040" y="5120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alex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71800" y="5120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Silver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17720" y="51206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EDD"/>
                </a:solidFill>
              </a:rPr>
              <a:t>rejected — capacity full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77240" y="5577840"/>
            <a:ext cx="10515600" cy="384048"/>
          </a:xfrm>
          <a:prstGeom prst="rect">
            <a:avLst/>
          </a:prstGeom>
          <a:solidFill>
            <a:srgbClr val="13193A"/>
          </a:solidFill>
          <a:ln w="6350">
            <a:solidFill>
              <a:srgbClr val="2B37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7240" y="5577840"/>
            <a:ext cx="54864" cy="384048"/>
          </a:xfrm>
          <a:prstGeom prst="rect">
            <a:avLst/>
          </a:prstGeom>
          <a:solidFill>
            <a:srgbClr val="D88B3F"/>
          </a:solidFill>
          <a:ln w="12700">
            <a:solidFill>
              <a:srgbClr val="D88B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5577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8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63040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F"/>
                </a:solidFill>
              </a:rPr>
              <a:t>shakeel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971800" y="5577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EDD"/>
                </a:solidFill>
              </a:rPr>
              <a:t>Bronze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17720" y="55778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EDD"/>
                </a:solidFill>
              </a:rPr>
              <a:t>rejected — capacity full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Newton 3.0 — Hackathon Walkthrough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AAB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274320"/>
            <a:ext cx="1645920" cy="1645920"/>
          </a:xfrm>
          <a:prstGeom prst="ellipse">
            <a:avLst/>
          </a:prstGeom>
          <a:solidFill>
            <a:srgbClr val="4F6BFF">
              <a:alpha val="30000"/>
            </a:srgbClr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Phase 2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77240" y="2999232"/>
            <a:ext cx="274320" cy="27432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D"/>
                </a:solidFill>
              </a:rPr>
              <a:t>Run Newton beside the real Rails allocator on production data, audit diffs daily.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593592"/>
            <a:ext cx="274320" cy="27432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93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520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D"/>
                </a:solidFill>
              </a:rPr>
              <a:t>Backfill user_score_state from historical events, dry-run + audit trail.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187952"/>
            <a:ext cx="274320" cy="27432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upgrade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D"/>
                </a:solidFill>
              </a:rPr>
              <a:t>Replace insights.py heuristics with a calibrated no-show classifier.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782312"/>
            <a:ext cx="274320" cy="27432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LLM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4709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D"/>
                </a:solidFill>
              </a:rPr>
              <a:t>Move Ollama call off the request thread, stream tokens to the UI.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376672"/>
            <a:ext cx="274320" cy="274320"/>
          </a:xfrm>
          <a:prstGeom prst="ellipse">
            <a:avLst/>
          </a:prstGeom>
          <a:solidFill>
            <a:srgbClr val="4F6BFF"/>
          </a:solidFill>
          <a:ln w="12700">
            <a:solidFill>
              <a:srgbClr val="4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76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5303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06240" y="5303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DD"/>
                </a:solidFill>
              </a:rPr>
              <a:t>Tighten CORS, rate-limit `/llm/explain`, add per-tenant log scoping.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AAB"/>
                </a:solidFill>
              </a:rPr>
              <a:t>Newton 3.0  ·  Shakeel Rauf  ·  Wayleadr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 3.0 — Behaviour-Driven Allocation</dc:title>
  <dc:subject>PptxGenJS Presentation</dc:subject>
  <dc:creator>Shakeel Rauf</dc:creator>
  <cp:lastModifiedBy>Shakeel Rauf</cp:lastModifiedBy>
  <cp:revision>1</cp:revision>
  <dcterms:created xsi:type="dcterms:W3CDTF">2026-05-13T22:30:56Z</dcterms:created>
  <dcterms:modified xsi:type="dcterms:W3CDTF">2026-05-13T22:30:56Z</dcterms:modified>
</cp:coreProperties>
</file>