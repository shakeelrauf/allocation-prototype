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9F2F"/>
              </a:solidFill>
              <a:ln w="12700" cap="flat">
                <a:solidFill>
                  <a:srgbClr val="0B142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FA0B6"/>
              </a:solidFill>
              <a:ln w="12700" cap="flat">
                <a:solidFill>
                  <a:srgbClr val="0B1426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99A2E"/>
              </a:solidFill>
              <a:ln w="12700" cap="flat">
                <a:solidFill>
                  <a:srgbClr val="0B1426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E6FCC"/>
              </a:solidFill>
              <a:ln w="12700" cap="flat">
                <a:solidFill>
                  <a:srgbClr val="0B1426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55B5B"/>
              </a:solidFill>
              <a:ln w="12700" cap="flat">
                <a:solidFill>
                  <a:srgbClr val="0B142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Bronze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  <c:pt idx="4">
                  <c:v>Restricted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</c:v>
                </c:pt>
                <c:pt idx="1">
                  <c:v>88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E4ECF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We keep admin control, add a visible behaviour score, and ship a full demo plus production-shaped AWS serverless.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rewriting Rails in the hackathon — we build the target system and migrate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group and user priority still come first — behaviour is layer 3, not a replacement for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can override weights per group (admin config) — demo in Tenant admin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mode compares this order to a legacy mock that ignores behaviour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app → /dashboard after CSV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Unused booking for a user — show −3 points under success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Allocate 2 spaces among 5 users — show winners + short waiting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focus user below winner — show narrative + optional AI reply. Ollama auto-probed at 127.0.0.1:11434; on AWS, Bedrock Converse with Claude Haiku.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pick a group, raise carpool reward to +8, save — next event for that group uses the override.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newton3/ Python package everywhere — Lambdas are thin adapters in aws/handlers/.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shadow validation before any customer cutover.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Behaviour-driven parking allocation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6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· Fair · AWS-native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0F2A52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Shakeel Rauf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57424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Wayleadr Hackathon · June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0F2A52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8646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(Loom)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5074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loom.com/share/d7478cd7208a498cba2b2272b6b4a42c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5532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57424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run_local.py --reload  →  http://127.0.0.1:8765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allocation?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sort is opaque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know why they lost a space.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behaviour signal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and good behaviour don't visibly affect rank.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fairness narrative for CS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has nothing to point complainants at.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cohort skew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M / X / A labels show high rejection in underserved tiers.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monolith blocks safe iteration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explain, scale, or validate a new engine without risk.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600200"/>
            <a:ext cx="4572000" cy="4572000"/>
          </a:xfrm>
          <a:prstGeom prst="roundRect">
            <a:avLst>
              <a:gd name="adj" fmla="val 2400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2240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0" y="22402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26345A"/>
          </a:solidFill>
          <a:ln w="12700">
            <a:solidFill>
              <a:srgbClr val="3C5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22402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Sort  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881360" y="2240280"/>
            <a:ext cx="731520" cy="640080"/>
          </a:xfrm>
          <a:prstGeom prst="roundRect">
            <a:avLst>
              <a:gd name="adj" fmla="val 14286"/>
            </a:avLst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2240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96528" y="2560320"/>
            <a:ext cx="237744" cy="0"/>
          </a:xfrm>
          <a:prstGeom prst="line">
            <a:avLst/>
          </a:prstGeom>
          <a:noFill/>
          <a:ln w="17780">
            <a:solidFill>
              <a:srgbClr val="8FA9C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625328" y="2560320"/>
            <a:ext cx="237744" cy="0"/>
          </a:xfrm>
          <a:prstGeom prst="line">
            <a:avLst/>
          </a:prstGeom>
          <a:noFill/>
          <a:ln w="17780">
            <a:solidFill>
              <a:srgbClr val="8FA9C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324612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0F2A52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Alice lose?”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374904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0F2A52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749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 it fair?”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425196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0F2A52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251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CS explain it?”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475488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0F2A52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4754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got priority?”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5623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(opaque sort, unanswerable questions)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 vs legacy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0936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B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sort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4-layer priority (documented)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user-facing behaviour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score (base 100, penalties, rewards, decay)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tiers (Platinum → Restricted)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event-driven penalties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processor (no-show, offence, carpool, 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explain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explain + optional AI narrative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safe cutover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mode — Newton vs legacy side-by-side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operator fairness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cohort CSV + fairness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WayID-style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/users/{id}/behavior-score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Rails-only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Python — SQLite or AWS serverless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65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CS insights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anomaly heuristics on scores &amp;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 — 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mechanics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960120" cy="960120"/>
          </a:xfrm>
          <a:prstGeom prst="ellipse">
            <a:avLst/>
          </a:prstGeom>
          <a:solidFill>
            <a:srgbClr val="0D4FBF"/>
          </a:solidFill>
          <a:ln w="12700">
            <a:solidFill>
              <a:srgbClr val="0D4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65960" y="2423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score — everyone starts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788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score cannot go below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164592" cy="502920"/>
          </a:xfrm>
          <a:prstGeom prst="rect">
            <a:avLst/>
          </a:prstGeom>
          <a:solidFill>
            <a:srgbClr val="D14545"/>
          </a:solidFill>
          <a:ln w="12700">
            <a:solidFill>
              <a:srgbClr val="D1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630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booking −3   ·   Free space −1   ·   Offence −5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251960"/>
            <a:ext cx="164592" cy="502920"/>
          </a:xfrm>
          <a:prstGeom prst="rect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4988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Carpool +5 (cap +20 per 4 wks)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120640"/>
            <a:ext cx="164592" cy="502920"/>
          </a:xfrm>
          <a:prstGeom prst="rect">
            <a:avLst/>
          </a:prstGeom>
          <a:solidFill>
            <a:srgbClr val="E89F2F"/>
          </a:solidFill>
          <a:ln w="12700">
            <a:solidFill>
              <a:srgbClr val="E89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5367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/ week toward 100 after last penalty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6002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bands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233172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8E6FCC"/>
          </a:solidFill>
          <a:ln w="12700">
            <a:solidFill>
              <a:srgbClr val="8E6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150+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3081528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C99A2E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08152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30815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120–149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3831336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8FA0B6"/>
          </a:solidFill>
          <a:ln w="12700">
            <a:solidFill>
              <a:srgbClr val="8FA0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83133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38313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80–119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4581144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B97A4A"/>
          </a:solidFill>
          <a:ln w="12700">
            <a:solidFill>
              <a:srgbClr val="B9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45811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45811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50–79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5330952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533095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53309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 50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5989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= deprioritised in the allocation pool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a space?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4FBF"/>
          </a:solidFill>
          <a:ln w="12700">
            <a:solidFill>
              <a:srgbClr val="0D4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priority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3911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e.g. Engineering before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5694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53288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priority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81635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 within a group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1012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59359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→ better rank among equals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239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9F2F"/>
          </a:solidFill>
          <a:ln w="12700">
            <a:solidFill>
              <a:srgbClr val="E89F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873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3708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seed for reproducibility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691640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key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(group_priority,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user_priority,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-behaviour_score,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tie_breaker)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tuple wins (Python sort).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406908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E2F4EB"/>
          </a:solidFill>
          <a:ln w="9525">
            <a:solidFill>
              <a:srgbClr val="2E9F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5262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Restricted-tier users rank after eligible users — so they don't take slots while higher-tier people are still waiting.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 —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1600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86384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" y="2798064"/>
            <a:ext cx="772668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" y="2843784"/>
            <a:ext cx="764438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26080"/>
            <a:ext cx="7534656" cy="777240"/>
          </a:xfrm>
          <a:prstGeom prst="roundRect">
            <a:avLst>
              <a:gd name="adj" fmla="val 7059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29809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" y="32004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59536" y="33649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145536" y="32004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45536" y="33649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 (all loaded)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31536" y="32004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(loaded)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31536" y="33649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3232" y="3840480"/>
            <a:ext cx="7534656" cy="2194560"/>
          </a:xfrm>
          <a:prstGeom prst="roundRect">
            <a:avLst>
              <a:gd name="adj" fmla="val 2500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38953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charts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9536" y="4160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scores by user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14400" y="438912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Robinson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286000" y="4425696"/>
            <a:ext cx="2345436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459028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 Rafiq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286000" y="4626864"/>
            <a:ext cx="493776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79145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Yinchao He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286000" y="4828032"/>
            <a:ext cx="1357884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99262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Goldshteyn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286000" y="5029200"/>
            <a:ext cx="2271370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1937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 Lam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286000" y="5230368"/>
            <a:ext cx="2394814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539496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 Campbell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286000" y="5431536"/>
            <a:ext cx="2345436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559612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 Tee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2286000" y="5632704"/>
            <a:ext cx="1357884" cy="128016"/>
          </a:xfrm>
          <a:prstGeom prst="rect">
            <a:avLst/>
          </a:prstGeom>
          <a:solidFill>
            <a:srgbClr val="5DA3FF"/>
          </a:solidFill>
          <a:ln w="12700">
            <a:solidFill>
              <a:srgbClr val="5DA3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5852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669280" y="4160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mix</a:t>
            </a:r>
            <a:endParaRPr lang="en-US" sz="700" dirty="0"/>
          </a:p>
        </p:txBody>
      </p:sp>
      <p:graphicFrame>
        <p:nvGraphicFramePr>
          <p:cNvPr id="59" name="Chart 0" descr=""/>
          <p:cNvGraphicFramePr/>
          <p:nvPr/>
        </p:nvGraphicFramePr>
        <p:xfrm>
          <a:off x="5715000" y="4389120"/>
          <a:ext cx="2286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0" name="Shape 57"/>
          <p:cNvSpPr/>
          <p:nvPr/>
        </p:nvSpPr>
        <p:spPr>
          <a:xfrm>
            <a:off x="8686800" y="160020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8696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8869680" y="2194560"/>
            <a:ext cx="265176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with score, tier, group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Tier-mix chart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LLM status pill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CSV import seeds users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events — log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1600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86384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23060" y="2798064"/>
            <a:ext cx="539496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" y="2843784"/>
            <a:ext cx="764438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71800"/>
            <a:ext cx="7534656" cy="1691640"/>
          </a:xfrm>
          <a:prstGeom prst="roundRect">
            <a:avLst>
              <a:gd name="adj" fmla="val 3243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3044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user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41248" y="3227832"/>
            <a:ext cx="7278624" cy="256032"/>
          </a:xfrm>
          <a:prstGeom prst="roundRect">
            <a:avLst>
              <a:gd name="adj" fmla="val 10714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227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McCall — 34391 · Silver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" y="35387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41248" y="3721608"/>
            <a:ext cx="1042221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721608"/>
            <a:ext cx="104222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1920045" y="3721608"/>
            <a:ext cx="1161677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0045" y="3721608"/>
            <a:ext cx="11616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cancelled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3118299" y="3721608"/>
            <a:ext cx="1161677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18299" y="3721608"/>
            <a:ext cx="11616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completed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4316552" y="3721608"/>
            <a:ext cx="743582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6552" y="3721608"/>
            <a:ext cx="7435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entry</a:t>
            </a:r>
            <a:endParaRPr lang="en-US" sz="630" dirty="0"/>
          </a:p>
        </p:txBody>
      </p:sp>
      <p:sp>
        <p:nvSpPr>
          <p:cNvPr id="45" name="Shape 43"/>
          <p:cNvSpPr/>
          <p:nvPr/>
        </p:nvSpPr>
        <p:spPr>
          <a:xfrm>
            <a:off x="5096710" y="3721608"/>
            <a:ext cx="564399" cy="219456"/>
          </a:xfrm>
          <a:prstGeom prst="roundRect">
            <a:avLst>
              <a:gd name="adj" fmla="val 16667"/>
            </a:avLst>
          </a:prstGeom>
          <a:solidFill>
            <a:srgbClr val="0F1A2E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96710" y="3721608"/>
            <a:ext cx="5643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Offence</a:t>
            </a:r>
            <a:endParaRPr lang="en-US" sz="630" dirty="0"/>
          </a:p>
        </p:txBody>
      </p:sp>
      <p:sp>
        <p:nvSpPr>
          <p:cNvPr id="47" name="Shape 45"/>
          <p:cNvSpPr/>
          <p:nvPr/>
        </p:nvSpPr>
        <p:spPr>
          <a:xfrm>
            <a:off x="5697685" y="3721608"/>
            <a:ext cx="564399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97685" y="3721608"/>
            <a:ext cx="5643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Carpool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6298660" y="3721608"/>
            <a:ext cx="504671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8660" y="3721608"/>
            <a:ext cx="50467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6839907" y="3721608"/>
            <a:ext cx="743582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907" y="3721608"/>
            <a:ext cx="7435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7620065" y="3721608"/>
            <a:ext cx="444943" cy="219456"/>
          </a:xfrm>
          <a:prstGeom prst="roundRect">
            <a:avLst>
              <a:gd name="adj" fmla="val 16667"/>
            </a:avLst>
          </a:prstGeom>
          <a:solidFill>
            <a:srgbClr val="0B1426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20065" y="3721608"/>
            <a:ext cx="44494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841248" y="4005072"/>
            <a:ext cx="7278624" cy="274320"/>
          </a:xfrm>
          <a:prstGeom prst="roundRect">
            <a:avLst>
              <a:gd name="adj" fmla="val 13333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4005072"/>
            <a:ext cx="7278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41248" y="4325112"/>
            <a:ext cx="7278624" cy="292608"/>
          </a:xfrm>
          <a:prstGeom prst="roundRect">
            <a:avLst>
              <a:gd name="adj" fmla="val 12500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32511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9F75"/>
                </a:solidFill>
              </a:rPr>
              <a:t>Logged «Offence / nudge» for Aaron McCall (34391).   </a:t>
            </a:r>
            <a:pPr indent="0" marL="0">
              <a:buNone/>
            </a:pPr>
            <a:r>
              <a:rPr lang="en-US" sz="800" b="1" dirty="0">
                <a:solidFill>
                  <a:srgbClr val="E89F2F"/>
                </a:solidFill>
              </a:rPr>
              <a:t>−5 points</a:t>
            </a:r>
            <a:pPr indent="0" marL="0">
              <a:buNone/>
            </a:pPr>
            <a:r>
              <a:rPr lang="en-US" sz="750" dirty="0">
                <a:solidFill>
                  <a:srgbClr val="E4ECF7"/>
                </a:solidFill>
              </a:rPr>
              <a:t>   Score 100 → 95 (Silver)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13232" y="4754880"/>
            <a:ext cx="7534656" cy="1234440"/>
          </a:xfrm>
          <a:prstGeom prst="roundRect">
            <a:avLst>
              <a:gd name="adj" fmla="val 4444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4818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41248" y="501091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events for: Aaron McCall (34391) · 2 recent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41248" y="5230368"/>
            <a:ext cx="7278624" cy="292608"/>
          </a:xfrm>
          <a:prstGeom prst="roundRect">
            <a:avLst>
              <a:gd name="adj" fmla="val 12500"/>
            </a:avLst>
          </a:prstGeom>
          <a:solidFill>
            <a:srgbClr val="0F1A2E"/>
          </a:solidFill>
          <a:ln w="6350">
            <a:solidFill>
              <a:srgbClr val="E89F2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52303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2026-05-30 23:15:07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2057400" y="5285232"/>
            <a:ext cx="777240" cy="192024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57400" y="5285232"/>
            <a:ext cx="777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Offence / nudge</a:t>
            </a:r>
            <a:endParaRPr lang="en-US" sz="630" dirty="0"/>
          </a:p>
        </p:txBody>
      </p:sp>
      <p:sp>
        <p:nvSpPr>
          <p:cNvPr id="66" name="Text 64"/>
          <p:cNvSpPr/>
          <p:nvPr/>
        </p:nvSpPr>
        <p:spPr>
          <a:xfrm>
            <a:off x="2880360" y="5230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McCall (34391)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040880" y="5230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89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points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1248" y="5577840"/>
            <a:ext cx="7278624" cy="292608"/>
          </a:xfrm>
          <a:prstGeom prst="roundRect">
            <a:avLst>
              <a:gd name="adj" fmla="val 12500"/>
            </a:avLst>
          </a:prstGeom>
          <a:solidFill>
            <a:srgbClr val="0F1A2E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4400" y="55778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2026-05-30 23:15:02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057400" y="5632704"/>
            <a:ext cx="868680" cy="192024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57400" y="5632704"/>
            <a:ext cx="868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completed</a:t>
            </a:r>
            <a:endParaRPr lang="en-US" sz="630" dirty="0"/>
          </a:p>
        </p:txBody>
      </p:sp>
      <p:sp>
        <p:nvSpPr>
          <p:cNvPr id="72" name="Text 70"/>
          <p:cNvSpPr/>
          <p:nvPr/>
        </p:nvSpPr>
        <p:spPr>
          <a:xfrm>
            <a:off x="2971800" y="5577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McCall (34391)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858000" y="5577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 change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686800" y="160020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696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8869680" y="2194560"/>
            <a:ext cx="265176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unused booking, carpool, offence, weekly decay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shows +/− deltas inline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user or everyone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events drive AWS scoring worker via SQS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 ·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allocation — who wins 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1600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86384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99716" y="2798064"/>
            <a:ext cx="617220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" y="2843784"/>
            <a:ext cx="764438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26080"/>
            <a:ext cx="7534656" cy="1325880"/>
          </a:xfrm>
          <a:prstGeom prst="roundRect">
            <a:avLst>
              <a:gd name="adj" fmla="val 4138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29900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parking today?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1248" y="3291840"/>
            <a:ext cx="2316480" cy="822960"/>
          </a:xfrm>
          <a:prstGeom prst="roundRect">
            <a:avLst>
              <a:gd name="adj" fmla="val 5556"/>
            </a:avLst>
          </a:prstGeom>
          <a:solidFill>
            <a:srgbClr val="0F1A2E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364992"/>
            <a:ext cx="274320" cy="274320"/>
          </a:xfrm>
          <a:prstGeom prst="ellipse">
            <a:avLst/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2728" y="3364992"/>
            <a:ext cx="185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competes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32688" y="3675888"/>
            <a:ext cx="213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 drivers in pool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176016" y="3703320"/>
            <a:ext cx="100584" cy="0"/>
          </a:xfrm>
          <a:prstGeom prst="line">
            <a:avLst/>
          </a:prstGeom>
          <a:noFill/>
          <a:ln w="12700">
            <a:solidFill>
              <a:srgbClr val="8FA0B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294888" y="3291840"/>
            <a:ext cx="2316480" cy="822960"/>
          </a:xfrm>
          <a:prstGeom prst="roundRect">
            <a:avLst>
              <a:gd name="adj" fmla="val 5556"/>
            </a:avLst>
          </a:prstGeom>
          <a:solidFill>
            <a:srgbClr val="0F1A2E"/>
          </a:solidFill>
          <a:ln w="12700">
            <a:solidFill>
              <a:srgbClr val="8E6F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68040" y="3364992"/>
            <a:ext cx="274320" cy="274320"/>
          </a:xfrm>
          <a:prstGeom prst="ellipse">
            <a:avLst/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804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06368" y="3364992"/>
            <a:ext cx="185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list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86328" y="3675888"/>
            <a:ext cx="213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→ user → behaviour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629656" y="3703320"/>
            <a:ext cx="100584" cy="0"/>
          </a:xfrm>
          <a:prstGeom prst="line">
            <a:avLst/>
          </a:prstGeom>
          <a:noFill/>
          <a:ln w="12700">
            <a:solidFill>
              <a:srgbClr val="8FA0B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748528" y="3291840"/>
            <a:ext cx="2316480" cy="822960"/>
          </a:xfrm>
          <a:prstGeom prst="roundRect">
            <a:avLst>
              <a:gd name="adj" fmla="val 5556"/>
            </a:avLst>
          </a:prstGeom>
          <a:solidFill>
            <a:srgbClr val="0F1A2E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21680" y="3364992"/>
            <a:ext cx="274320" cy="274320"/>
          </a:xfrm>
          <a:prstGeom prst="ellipse">
            <a:avLst/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2168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60008" y="3364992"/>
            <a:ext cx="185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spaces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39968" y="3675888"/>
            <a:ext cx="213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 → winners listed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13232" y="4389120"/>
            <a:ext cx="7534656" cy="502920"/>
          </a:xfrm>
          <a:prstGeom prst="roundRect">
            <a:avLst>
              <a:gd name="adj" fmla="val 10909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44531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spaces available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542032" y="449884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44988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017520" y="44531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566160" y="4498848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449884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58000" y="4480560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44805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parking spaces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13232" y="5029200"/>
            <a:ext cx="7534656" cy="960120"/>
          </a:xfrm>
          <a:prstGeom prst="roundRect">
            <a:avLst>
              <a:gd name="adj" fmla="val 5714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5074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this run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41248" y="524865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904 drivers in one list. The first 1 got a parking space.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841248" y="5449824"/>
            <a:ext cx="2343912" cy="43891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5477256"/>
            <a:ext cx="2343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spc="1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841248" y="5605272"/>
            <a:ext cx="2343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 drivers in pool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3448" y="5669280"/>
            <a:ext cx="118872" cy="0"/>
          </a:xfrm>
          <a:prstGeom prst="line">
            <a:avLst/>
          </a:prstGeom>
          <a:noFill/>
          <a:ln w="12700">
            <a:solidFill>
              <a:srgbClr val="8FA0BC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368040" y="5449824"/>
            <a:ext cx="2343912" cy="438912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12700">
            <a:solidFill>
              <a:srgbClr val="8E6F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68040" y="5477256"/>
            <a:ext cx="2343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spc="1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3368040" y="5605272"/>
            <a:ext cx="2343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best  …  #904 last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730240" y="5669280"/>
            <a:ext cx="118872" cy="0"/>
          </a:xfrm>
          <a:prstGeom prst="line">
            <a:avLst/>
          </a:prstGeom>
          <a:noFill/>
          <a:ln w="12700">
            <a:solidFill>
              <a:srgbClr val="8FA0BC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5894832" y="5449824"/>
            <a:ext cx="2343912" cy="438912"/>
          </a:xfrm>
          <a:prstGeom prst="roundRect">
            <a:avLst>
              <a:gd name="adj" fmla="val 50000"/>
            </a:avLst>
          </a:prstGeom>
          <a:solidFill>
            <a:srgbClr val="0E2A1F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94832" y="5477256"/>
            <a:ext cx="2343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spc="100" kern="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5894832" y="5605272"/>
            <a:ext cx="2343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→ Space #1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41248" y="5952744"/>
            <a:ext cx="7278624" cy="329184"/>
          </a:xfrm>
          <a:prstGeom prst="roundRect">
            <a:avLst>
              <a:gd name="adj" fmla="val 13889"/>
            </a:avLst>
          </a:prstGeom>
          <a:solidFill>
            <a:srgbClr val="0E2A1F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6035040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4400" y="603504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1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1508760" y="59527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Apostol (151654)  ·  was rank #1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8686800" y="160020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696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8869680" y="2194560"/>
            <a:ext cx="265176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capacity + user pool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→ ranked → winners (visual funnel)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note for who missed 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persisted for audit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 ·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 — why Alice ranks above Bob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676656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80644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54096" y="2798064"/>
            <a:ext cx="1005840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" y="2843784"/>
            <a:ext cx="654710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26080"/>
            <a:ext cx="6437376" cy="3108960"/>
          </a:xfrm>
          <a:prstGeom prst="roundRect">
            <a:avLst>
              <a:gd name="adj" fmla="val 1765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3072384"/>
            <a:ext cx="310896" cy="310896"/>
          </a:xfrm>
          <a:prstGeom prst="ellipse">
            <a:avLst/>
          </a:prstGeom>
          <a:solidFill>
            <a:srgbClr val="8E6FCC"/>
          </a:solidFill>
          <a:ln w="12700">
            <a:solidFill>
              <a:srgbClr val="8E6F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25296" y="3044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Shakeel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25296" y="3246120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from step 4 above — ask about the ranked list for 904 drivers (same seed as Parking).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41248" y="3566160"/>
            <a:ext cx="1280160" cy="256032"/>
          </a:xfrm>
          <a:prstGeom prst="roundRect">
            <a:avLst>
              <a:gd name="adj" fmla="val 10714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566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conversation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41248" y="3886200"/>
            <a:ext cx="6181344" cy="1280160"/>
          </a:xfrm>
          <a:prstGeom prst="roundRect">
            <a:avLst>
              <a:gd name="adj" fmla="val 2857"/>
            </a:avLst>
          </a:prstGeom>
          <a:solidFill>
            <a:srgbClr val="0F1A2E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3977640"/>
            <a:ext cx="256032" cy="256032"/>
          </a:xfrm>
          <a:prstGeom prst="ellipse">
            <a:avLst/>
          </a:prstGeom>
          <a:solidFill>
            <a:srgbClr val="8E6FCC"/>
          </a:solidFill>
          <a:ln w="12700">
            <a:solidFill>
              <a:srgbClr val="8E6F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61872" y="39502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</a:rPr>
              <a:t>Hi — I'm </a:t>
            </a:r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</a:rPr>
              <a:t>Shakeel</a:t>
            </a:r>
            <a:pPr indent="0" marL="0">
              <a:buNone/>
            </a:pPr>
            <a:r>
              <a:rPr lang="en-US" sz="800" dirty="0">
                <a:solidFill>
                  <a:srgbClr val="E4ECF7"/>
                </a:solidFill>
              </a:rPr>
              <a:t>, your Newton 3 allocation guide.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325880" y="4361688"/>
            <a:ext cx="73152" cy="73152"/>
          </a:xfrm>
          <a:prstGeom prst="ellipse">
            <a:avLst/>
          </a:prstGeom>
          <a:solidFill>
            <a:srgbClr val="8FA0BC"/>
          </a:solidFill>
          <a:ln w="12700">
            <a:solidFill>
              <a:srgbClr val="8FA0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3040" y="42976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my rank lower than someone on another team?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325880" y="4562856"/>
            <a:ext cx="73152" cy="73152"/>
          </a:xfrm>
          <a:prstGeom prst="ellipse">
            <a:avLst/>
          </a:prstGeom>
          <a:solidFill>
            <a:srgbClr val="8FA0BC"/>
          </a:solidFill>
          <a:ln w="12700">
            <a:solidFill>
              <a:srgbClr val="8FA0B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63040" y="44988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move me up one spot?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325880" y="4764024"/>
            <a:ext cx="73152" cy="73152"/>
          </a:xfrm>
          <a:prstGeom prst="ellipse">
            <a:avLst/>
          </a:prstGeom>
          <a:solidFill>
            <a:srgbClr val="8FA0BC"/>
          </a:solidFill>
          <a:ln w="12700">
            <a:solidFill>
              <a:srgbClr val="8FA0B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63040" y="47000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Send with an empty box for a short tour of this pool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41248" y="5303520"/>
            <a:ext cx="5303520" cy="329184"/>
          </a:xfrm>
          <a:prstGeom prst="roundRect">
            <a:avLst>
              <a:gd name="adj" fmla="val 11111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2688" y="53035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ranking, fairness, or leave blank for a short tour…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17920" y="5303520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53035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43800" y="160020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functionality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77240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backends, one prompt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772400" y="2423160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24231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Ollama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692640" y="2423160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E2F4EB"/>
          </a:solidFill>
          <a:ln w="12700">
            <a:solidFill>
              <a:srgbClr val="E2F4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92640" y="24231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Bedrock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818120" y="2944368"/>
            <a:ext cx="164592" cy="164592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2440" y="28803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person picker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092440" y="31181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by name — pulls one user into the explainer.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818120" y="3447288"/>
            <a:ext cx="164592" cy="164592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92440" y="33832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Sort-key breakdown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8092440" y="36210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group / user / behaviour / tie-breaker side by side.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818120" y="3950208"/>
            <a:ext cx="164592" cy="164592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92440" y="38862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explanation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092440" y="41239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Always-available plain-English narrative — no LLM needed.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818120" y="4453128"/>
            <a:ext cx="164592" cy="164592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9244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snapshot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8092440" y="46268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state + user profile sent with every chat turn.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818120" y="4956048"/>
            <a:ext cx="164592" cy="164592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92440" y="48920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8092440" y="51297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Shakeel persona answers “why am I lower?” / “what moves me up?”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818120" y="5458968"/>
            <a:ext cx="164592" cy="164592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92440" y="53949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8092440" y="56327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LLM is down, template explanation still answers.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 ·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complaint cohort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1600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86384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97096" y="2798064"/>
            <a:ext cx="617220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" y="2843784"/>
            <a:ext cx="764438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26080"/>
            <a:ext cx="7534656" cy="777240"/>
          </a:xfrm>
          <a:prstGeom prst="roundRect">
            <a:avLst>
              <a:gd name="adj" fmla="val 7059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2990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vs Newton comparison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" y="3200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import a raw CSV above, compare legacy underserved tiers with Newton behaviour scores.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41248" y="3383280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383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comparison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92024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D8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comparison CSV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41248" y="3794760"/>
            <a:ext cx="836676" cy="219456"/>
          </a:xfrm>
          <a:prstGeom prst="roundRect">
            <a:avLst>
              <a:gd name="adj" fmla="val 12500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3794760"/>
            <a:ext cx="836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users: 904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741932" y="3794760"/>
            <a:ext cx="754380" cy="219456"/>
          </a:xfrm>
          <a:prstGeom prst="roundRect">
            <a:avLst>
              <a:gd name="adj" fmla="val 12500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41932" y="3794760"/>
            <a:ext cx="7543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M/X: 102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560320" y="3794760"/>
            <a:ext cx="1783080" cy="219456"/>
          </a:xfrm>
          <a:prstGeom prst="roundRect">
            <a:avLst>
              <a:gd name="adj" fmla="val 12500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79476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helps (score ≥80, high pain): 455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407408" y="3794760"/>
            <a:ext cx="1083564" cy="219456"/>
          </a:xfrm>
          <a:prstGeom prst="roundRect">
            <a:avLst>
              <a:gd name="adj" fmla="val 12500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3794760"/>
            <a:ext cx="10835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label match: 38.4%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13232" y="4160520"/>
            <a:ext cx="7534656" cy="1874520"/>
          </a:xfrm>
          <a:prstGeom prst="roundRect">
            <a:avLst>
              <a:gd name="adj" fmla="val 2927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4233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212848" y="423367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30168" y="4233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 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041648" y="423367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tier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36008" y="42336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13248" y="42336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in group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81928" y="423367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Helps?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41248" y="4462272"/>
            <a:ext cx="727862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9808" y="4526280"/>
            <a:ext cx="7461504" cy="182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4526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AUBINEAU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212848" y="4526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Gentilly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630168" y="45262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041648" y="452628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636008" y="45262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(Silver)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413248" y="45262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281928" y="45262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41248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Myles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212848" y="47091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BioMarin International Ltd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630168" y="470916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041648" y="47091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636008" y="47091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(Silver)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413248" y="47091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281928" y="47091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49808" y="4892040"/>
            <a:ext cx="7461504" cy="182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1248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Madhuri Kolli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2212848" y="489204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3630168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041648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4636008" y="489204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(Silver)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413248" y="489204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120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28192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841248" y="5074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Curry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2212848" y="507492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NTMA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3630168" y="507492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041648" y="50749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4636008" y="507492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(Silver)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413248" y="50749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281928" y="50749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749808" y="5257800"/>
            <a:ext cx="7461504" cy="182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1248" y="5257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Tennille Nash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2212848" y="52578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Girls Grammar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630168" y="52578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4041648" y="525780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4636008" y="52578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(Silver)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5413248" y="525780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6281928" y="52578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841248" y="5440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Nguyen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2212848" y="54406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Aritzia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3630168" y="54406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4041648" y="544068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636008" y="5440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(Silver)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413248" y="54406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6281928" y="54406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49808" y="5623560"/>
            <a:ext cx="7461504" cy="182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41248" y="5623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 Farooqi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2212848" y="56235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L'Oreal Australia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3630168" y="562356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4041648" y="56235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4636008" y="5623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(Bronze)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5413248" y="56235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65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6281928" y="56235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8686800" y="160020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696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110" name="Text 108"/>
          <p:cNvSpPr/>
          <p:nvPr/>
        </p:nvSpPr>
        <p:spPr>
          <a:xfrm>
            <a:off x="8869680" y="2194560"/>
            <a:ext cx="265176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Metabase Algorithm User Complaints CSV directly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legacy underserved label vs Newton tier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CS conversations with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Loom: import → full product flow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 ·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 — per-group weight overrides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1600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86384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51476" y="2798064"/>
            <a:ext cx="1005840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2843784"/>
            <a:ext cx="764438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26080"/>
            <a:ext cx="7534656" cy="2468880"/>
          </a:xfrm>
          <a:prstGeom prst="roundRect">
            <a:avLst>
              <a:gd name="adj" fmla="val 2222"/>
            </a:avLst>
          </a:prstGeom>
          <a:solidFill>
            <a:srgbClr val="111C32"/>
          </a:solidFill>
          <a:ln w="9525">
            <a:solidFill>
              <a:srgbClr val="1E2D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3017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 (per group_id)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" y="323697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default penalties / rewards / decay for users in that group.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1248" y="3566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41248" y="3776472"/>
            <a:ext cx="7278624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7764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Select —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909560" y="37764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no_show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41248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81051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free_space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881051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81051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920855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offence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920855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0855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960658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carpool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960658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60658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00462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decay_per_week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000462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0462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40265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reward_cap_total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40265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40265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080069" y="4206240"/>
            <a:ext cx="9940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reward_cap_window_days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080069" y="4407408"/>
            <a:ext cx="994083" cy="27432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80069" y="4407408"/>
            <a:ext cx="9940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1248" y="4846320"/>
            <a:ext cx="1005840" cy="292608"/>
          </a:xfrm>
          <a:prstGeom prst="roundRect">
            <a:avLst>
              <a:gd name="adj" fmla="val 9375"/>
            </a:avLst>
          </a:prstGeom>
          <a:solidFill>
            <a:srgbClr val="0F1A2E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8463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current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920240" y="4846320"/>
            <a:ext cx="1188720" cy="292608"/>
          </a:xfrm>
          <a:prstGeom prst="roundRect">
            <a:avLst>
              <a:gd name="adj" fmla="val 9375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20240" y="4846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tenant config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13232" y="5669280"/>
            <a:ext cx="7534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 /dashboard, /events, /allocation, /intel, /reports, /admin, /users/{id}/score   ·   Set VITE_API_BASE_URL when UI and API use different origins.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686800" y="160020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696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869680" y="219456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default penalties / rewards / decay per group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no_show · free_space · offence · carpool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decay_per_week + reward_cap_total + window_days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current · Save tenant config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runtime by tenant_weights.resolve_weights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CUTOVER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+ Rails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0B1426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6766560" cy="54864"/>
          </a:xfrm>
          <a:prstGeom prst="rect">
            <a:avLst/>
          </a:prstGeom>
          <a:solidFill>
            <a:srgbClr val="5A2654"/>
          </a:solidFill>
          <a:ln w="12700">
            <a:solidFill>
              <a:srgbClr val="5A2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routed URLs · connects to Newton API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4D8BF0"/>
          </a:solidFill>
          <a:ln w="12700">
            <a:solidFill>
              <a:srgbClr val="4D8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data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806440" y="17373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2202F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SqliteStore · DB on disk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store: yes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705356" y="2258568"/>
            <a:ext cx="987552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5356" y="225856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registry: yes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38628" y="2258568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25856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history: 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89604" y="2258568"/>
            <a:ext cx="946404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9604" y="2258568"/>
            <a:ext cx="94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weights: yes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22585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258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550408" y="2258568"/>
            <a:ext cx="1110996" cy="201168"/>
          </a:xfrm>
          <a:prstGeom prst="roundRect">
            <a:avLst>
              <a:gd name="adj" fmla="val 13636"/>
            </a:avLst>
          </a:prstGeom>
          <a:solidFill>
            <a:srgbClr val="163B2C"/>
          </a:solidFill>
          <a:ln w="6350">
            <a:solidFill>
              <a:srgbClr val="2E9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2258568"/>
            <a:ext cx="1110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(ollama, auto): yes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13232" y="2560320"/>
            <a:ext cx="864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23060" y="256032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9971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99716" y="2798064"/>
            <a:ext cx="617220" cy="18288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97096" y="2560320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1476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" y="2843784"/>
            <a:ext cx="6547104" cy="0"/>
          </a:xfrm>
          <a:prstGeom prst="line">
            <a:avLst/>
          </a:prstGeom>
          <a:noFill/>
          <a:ln w="6350">
            <a:solidFill>
              <a:srgbClr val="1E2D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9626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" y="3163824"/>
            <a:ext cx="6437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884 drivers change rank when behaviour score is included (Newton) vs ignored (legacy mock).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13232" y="3383280"/>
            <a:ext cx="3104388" cy="1234440"/>
          </a:xfrm>
          <a:prstGeom prst="roundRect">
            <a:avLst>
              <a:gd name="adj" fmla="val 3704"/>
            </a:avLst>
          </a:prstGeom>
          <a:solidFill>
            <a:srgbClr val="111C32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429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Newton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3593592"/>
            <a:ext cx="283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→ user priority → behaviour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822960" y="3840480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840480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1115568" y="3840480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Apostol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3031236" y="3840480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(151654)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822960" y="4032504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032504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115568" y="4032504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 Zhou</a:t>
            </a:r>
            <a:endParaRPr lang="en-US" sz="630" dirty="0"/>
          </a:p>
        </p:txBody>
      </p:sp>
      <p:sp>
        <p:nvSpPr>
          <p:cNvPr id="44" name="Text 42"/>
          <p:cNvSpPr/>
          <p:nvPr/>
        </p:nvSpPr>
        <p:spPr>
          <a:xfrm>
            <a:off x="3031236" y="4032504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(62771)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822960" y="4224528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224528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115568" y="4224528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Ioanna CHATZIDIAKOU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3031236" y="4224528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(63387)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822960" y="4416552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416552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1115568" y="4416552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Brookfield</a:t>
            </a:r>
            <a:endParaRPr lang="en-US" sz="630" dirty="0"/>
          </a:p>
        </p:txBody>
      </p:sp>
      <p:sp>
        <p:nvSpPr>
          <p:cNvPr id="52" name="Text 50"/>
          <p:cNvSpPr/>
          <p:nvPr/>
        </p:nvSpPr>
        <p:spPr>
          <a:xfrm>
            <a:off x="3031236" y="4416552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(20638)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822960" y="4608576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4608576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1115568" y="4608576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Dimitrios PAPAPROKOPIOU</a:t>
            </a:r>
            <a:endParaRPr lang="en-US" sz="630" dirty="0"/>
          </a:p>
        </p:txBody>
      </p:sp>
      <p:sp>
        <p:nvSpPr>
          <p:cNvPr id="56" name="Text 54"/>
          <p:cNvSpPr/>
          <p:nvPr/>
        </p:nvSpPr>
        <p:spPr>
          <a:xfrm>
            <a:off x="3031236" y="4608576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(63454)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3817620" y="4114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046220" y="3383280"/>
            <a:ext cx="3104388" cy="1234440"/>
          </a:xfrm>
          <a:prstGeom prst="roundRect">
            <a:avLst>
              <a:gd name="adj" fmla="val 3704"/>
            </a:avLst>
          </a:prstGeom>
          <a:solidFill>
            <a:srgbClr val="111C32"/>
          </a:solidFill>
          <a:ln w="12700">
            <a:solidFill>
              <a:srgbClr val="1E2D4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55948" y="3429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legacy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155948" y="3593592"/>
            <a:ext cx="283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→ user priority only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4155948" y="3840480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55948" y="3840480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448556" y="3840480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Apostol</a:t>
            </a:r>
            <a:endParaRPr lang="en-US" sz="630" dirty="0"/>
          </a:p>
        </p:txBody>
      </p:sp>
      <p:sp>
        <p:nvSpPr>
          <p:cNvPr id="64" name="Text 62"/>
          <p:cNvSpPr/>
          <p:nvPr/>
        </p:nvSpPr>
        <p:spPr>
          <a:xfrm>
            <a:off x="6364224" y="3840480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(151654)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4155948" y="4032504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55948" y="4032504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4448556" y="4032504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Chloe Zhou</a:t>
            </a:r>
            <a:endParaRPr lang="en-US" sz="630" dirty="0"/>
          </a:p>
        </p:txBody>
      </p:sp>
      <p:sp>
        <p:nvSpPr>
          <p:cNvPr id="68" name="Text 66"/>
          <p:cNvSpPr/>
          <p:nvPr/>
        </p:nvSpPr>
        <p:spPr>
          <a:xfrm>
            <a:off x="6364224" y="4032504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(62771)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4155948" y="4224528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55948" y="4224528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4448556" y="4224528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Robbie Nestadt</a:t>
            </a:r>
            <a:endParaRPr lang="en-US" sz="630" dirty="0"/>
          </a:p>
        </p:txBody>
      </p:sp>
      <p:sp>
        <p:nvSpPr>
          <p:cNvPr id="72" name="Text 70"/>
          <p:cNvSpPr/>
          <p:nvPr/>
        </p:nvSpPr>
        <p:spPr>
          <a:xfrm>
            <a:off x="6364224" y="4224528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(17863)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4155948" y="4416552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55948" y="4416552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448556" y="4416552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Ioanna CHATZIDIAKOU</a:t>
            </a:r>
            <a:endParaRPr lang="en-US" sz="630" dirty="0"/>
          </a:p>
        </p:txBody>
      </p:sp>
      <p:sp>
        <p:nvSpPr>
          <p:cNvPr id="76" name="Text 74"/>
          <p:cNvSpPr/>
          <p:nvPr/>
        </p:nvSpPr>
        <p:spPr>
          <a:xfrm>
            <a:off x="6364224" y="4416552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(63387)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4155948" y="4608576"/>
            <a:ext cx="292608" cy="155448"/>
          </a:xfrm>
          <a:prstGeom prst="roundRect">
            <a:avLst>
              <a:gd name="adj" fmla="val 11765"/>
            </a:avLst>
          </a:prstGeom>
          <a:solidFill>
            <a:srgbClr val="12202F"/>
          </a:solidFill>
          <a:ln w="6350">
            <a:solidFill>
              <a:srgbClr val="1E2D4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55948" y="4608576"/>
            <a:ext cx="292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4448556" y="4608576"/>
            <a:ext cx="19156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Harper</a:t>
            </a:r>
            <a:endParaRPr lang="en-US" sz="630" dirty="0"/>
          </a:p>
        </p:txBody>
      </p:sp>
      <p:sp>
        <p:nvSpPr>
          <p:cNvPr id="80" name="Text 78"/>
          <p:cNvSpPr/>
          <p:nvPr/>
        </p:nvSpPr>
        <p:spPr>
          <a:xfrm>
            <a:off x="6364224" y="4608576"/>
            <a:ext cx="685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(5372)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713232" y="4507992"/>
            <a:ext cx="6437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A7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rank moves listed below (Adam Robinson Newton #26 vs Legacy #31, …)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548640" y="493776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7240" y="5029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de-risk the change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77240" y="5303520"/>
            <a:ext cx="64008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users, same seed → Newton rank vs legacy mock side-by-side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Migration: groups / users / events CSV → SQLite or DynamoDB · idempotent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543800" y="160020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2668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pipeline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772400" y="233172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0F2A52"/>
          </a:solidFill>
          <a:ln w="19050">
            <a:solidFill>
              <a:srgbClr val="E89F2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09560" y="2441448"/>
            <a:ext cx="502920" cy="502920"/>
          </a:xfrm>
          <a:prstGeom prst="ellipse">
            <a:avLst/>
          </a:prstGeom>
          <a:solidFill>
            <a:srgbClr val="E89F2F"/>
          </a:solidFill>
          <a:ln w="12700">
            <a:solidFill>
              <a:srgbClr val="E89F2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0956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854964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export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8549640" y="26974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(no live creds)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646920" y="3044952"/>
            <a:ext cx="0" cy="246888"/>
          </a:xfrm>
          <a:prstGeom prst="line">
            <a:avLst/>
          </a:prstGeom>
          <a:noFill/>
          <a:ln w="19050">
            <a:solidFill>
              <a:srgbClr val="C3D0E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329184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0F2A52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909560" y="3401568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09560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854964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script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549640" y="36576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+ audited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9646920" y="4005072"/>
            <a:ext cx="0" cy="246888"/>
          </a:xfrm>
          <a:prstGeom prst="line">
            <a:avLst/>
          </a:prstGeom>
          <a:noFill/>
          <a:ln w="19050">
            <a:solidFill>
              <a:srgbClr val="C3D0E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0" y="425196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0F2A52"/>
          </a:solidFill>
          <a:ln w="19050">
            <a:solidFill>
              <a:srgbClr val="2E9F7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909560" y="4361688"/>
            <a:ext cx="502920" cy="502920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09560" y="4361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854964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8549640" y="46177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SQLite locally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646920" y="4965192"/>
            <a:ext cx="0" cy="246888"/>
          </a:xfrm>
          <a:prstGeom prst="line">
            <a:avLst/>
          </a:prstGeom>
          <a:noFill/>
          <a:ln w="19050">
            <a:solidFill>
              <a:srgbClr val="C3D0E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772400" y="521208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0F2A52"/>
          </a:solidFill>
          <a:ln w="19050">
            <a:solidFill>
              <a:srgbClr val="8E6F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909560" y="5321808"/>
            <a:ext cx="502920" cy="502920"/>
          </a:xfrm>
          <a:prstGeom prst="ellipse">
            <a:avLst/>
          </a:prstGeom>
          <a:solidFill>
            <a:srgbClr val="8E6FCC"/>
          </a:solidFill>
          <a:ln w="12700">
            <a:solidFill>
              <a:srgbClr val="8E6F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909560" y="5321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8" name="Text 106"/>
          <p:cNvSpPr/>
          <p:nvPr/>
        </p:nvSpPr>
        <p:spPr>
          <a:xfrm>
            <a:off x="8549640" y="5257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live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8549640" y="5577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UI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simple, modern, production-shaped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074920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5074920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08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566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5074920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23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(5 tables, on-demand)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480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(75+ tests)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937760"/>
            <a:ext cx="5074920" cy="41148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937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(local)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4937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(auto-start)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394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(AWS)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5394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— Converse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60020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 (SAM)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29400" y="2194560"/>
            <a:ext cx="4754880" cy="52120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194560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2194560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(Mangum), scoring, allocation, read, shadow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2761488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HTTP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2761488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edge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3328416"/>
            <a:ext cx="4754880" cy="52120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328416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3328416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events bus + weekly decay schedule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3895344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0" y="3895344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scoring queue + DLQ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29400" y="4462272"/>
            <a:ext cx="4754880" cy="521208"/>
          </a:xfrm>
          <a:prstGeom prst="rect">
            <a:avLst/>
          </a:prstGeom>
          <a:solidFill>
            <a:srgbClr val="F4FBF7"/>
          </a:solidFill>
          <a:ln w="12700">
            <a:solidFill>
              <a:srgbClr val="F4FB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462272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/ SAM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12480" y="4462272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5029200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5029200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AI in cloud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— two runtimes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newton3/  Python package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(scoring · allocation · events)  ·  persistence  · 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164592" cy="3200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run_local.py · fastest for judges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+ FastAPI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1148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6177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(optional)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1206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20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:5173 → :8765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8346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834640"/>
            <a:ext cx="164592" cy="3200400"/>
          </a:xfrm>
          <a:prstGeom prst="rect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(serverless)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build · sam deploy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36118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2F4EB"/>
          </a:solidFill>
          <a:ln w="12700">
            <a:solidFill>
              <a:srgbClr val="E2F4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GW → Console Lambda (Mangum + FastAPI)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41148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2F4EB"/>
          </a:solidFill>
          <a:ln w="12700">
            <a:solidFill>
              <a:srgbClr val="E2F4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 Lambda  ·  Read Lambda (WayID)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6177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2F4EB"/>
          </a:solidFill>
          <a:ln w="12700">
            <a:solidFill>
              <a:srgbClr val="E2F4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EventBridge → SQS → Scoring Lambda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51206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E2F4EB"/>
          </a:solidFill>
          <a:ln w="12700">
            <a:solidFill>
              <a:srgbClr val="E2F4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5120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 ·  Bedrock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FastAPI on a server in AWS — Lambda + Mangum  ·  Not two codebases — shared engines, thin handlers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that change (or don't change) the score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booking.created / cancelled / completed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B8A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(no score change in Phase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gate.entry_detected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B8A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unused_booking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1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free_space_used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1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offence.reported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1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carpool.detected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 (capped)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weekly_decay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toward base (scheduled on AWS)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/api/events → immediate score update in UI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880360"/>
            <a:ext cx="3749040" cy="0"/>
          </a:xfrm>
          <a:prstGeom prst="line">
            <a:avLst/>
          </a:prstGeom>
          <a:noFill/>
          <a:ln w="9525">
            <a:solidFill>
              <a:srgbClr val="C3D0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383280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6F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3456432"/>
            <a:ext cx="292608" cy="29260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3383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3913632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E89F2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0" y="3986784"/>
            <a:ext cx="292608" cy="292608"/>
          </a:xfrm>
          <a:prstGeom prst="ellipse">
            <a:avLst/>
          </a:prstGeom>
          <a:solidFill>
            <a:srgbClr val="E89F2F"/>
          </a:solidFill>
          <a:ln w="12700">
            <a:solidFill>
              <a:srgbClr val="E89F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39136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4443984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E89F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0" y="4517136"/>
            <a:ext cx="292608" cy="292608"/>
          </a:xfrm>
          <a:prstGeom prst="ellipse">
            <a:avLst/>
          </a:prstGeom>
          <a:solidFill>
            <a:srgbClr val="E89F2F"/>
          </a:solidFill>
          <a:ln w="12700">
            <a:solidFill>
              <a:srgbClr val="E89F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444398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0" y="4974336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E9F7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0" y="5047488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0" y="497433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Lambda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0" y="5504688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7A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0" y="5577840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0" y="550468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0807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UI events stay synchronous for instant feedback.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Newton 3 in a few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64592" cy="1371600"/>
          </a:xfrm>
          <a:prstGeom prst="rect">
            <a:avLst/>
          </a:prstGeom>
          <a:solidFill>
            <a:srgbClr val="0D4FBF"/>
          </a:solidFill>
          <a:ln w="12700">
            <a:solidFill>
              <a:srgbClr val="0D4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(5 min)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1709928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709928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requirements-dev.txt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run_local.py --reload --db ./data/newton3.db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ui &amp;&amp; npm run dev      # optional separate 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starts automatically · open http://127.0.0.1:8765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54680"/>
            <a:ext cx="164592" cy="1371600"/>
          </a:xfrm>
          <a:prstGeom prst="rect">
            <a:avLst/>
          </a:prstGeom>
          <a:solidFill>
            <a:srgbClr val="E89F2F"/>
          </a:solidFill>
          <a:ln w="12700">
            <a:solidFill>
              <a:srgbClr val="E89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0" y="3264408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264408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0233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image, SQLite by default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D0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164592" cy="1371600"/>
          </a:xfrm>
          <a:prstGeom prst="rect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(~15 min)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4818888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818888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infra/sam &amp;&amp; sam build &amp;&amp; sam deploy --guided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scripts/migrate_from_rails_export.py --backend dynamodb --stage dev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577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+ DynamoDB + Bedrock — your account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053328"/>
            <a:ext cx="11064240" cy="274320"/>
          </a:xfrm>
          <a:prstGeom prst="roundRect">
            <a:avLst>
              <a:gd name="adj" fmla="val 16667"/>
            </a:avLst>
          </a:prstGeom>
          <a:solidFill>
            <a:srgbClr val="E2F4EB"/>
          </a:solidFill>
          <a:ln w="12700">
            <a:solidFill>
              <a:srgbClr val="E2F4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first → loom.com/share/d7478cd7208a498cba2b2272b6b4a42c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alignment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scoring + tiers + decay + reward cap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+ explain + shadow compare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operator UI + Metabase CSV import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93192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886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automated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4348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SAM hybrid serverless (Lambda, DDB, SQS, EventBridge, Bedrock)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02920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29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9834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WayID-compatible behaviour score API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5577840"/>
            <a:ext cx="292608" cy="292608"/>
          </a:xfrm>
          <a:prstGeom prst="ellipse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77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532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script + fairness cohort reporting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160020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Wayleadr 2.0 alignment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21031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platform · WayID · Newton engine · migration-first · no Rails runtime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39776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 w="9525">
            <a:solidFill>
              <a:srgbClr val="E89F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2+  (documented)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48056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auth · S3 / CloudFront UI · score reset on allocation cycle · early-cancel reward · ML anomaly models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3.0  ·  Wayleadr Hackathon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F75"/>
          </a:solidFill>
          <a:ln w="12700">
            <a:solidFill>
              <a:srgbClr val="2E9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isolated Newton 3 on AWS.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F2A52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9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shadow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sign off ranking changes before cutover.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3017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F2A52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admin priorities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886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transparent behaviour for users + 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3017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F2A52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9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demo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886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→ README → optional sam deploy.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120640"/>
            <a:ext cx="10561320" cy="1143000"/>
          </a:xfrm>
          <a:prstGeom prst="roundRect">
            <a:avLst>
              <a:gd name="adj" fmla="val 9600"/>
            </a:avLst>
          </a:prstGeom>
          <a:solidFill>
            <a:srgbClr val="0F2A52"/>
          </a:solidFill>
          <a:ln w="9525">
            <a:solidFill>
              <a:srgbClr val="1F3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5486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loom.com/share/d7478cd7208a498cba2b2272b6b4a42c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5486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ARCHITECTURE.md · DEPLOY_AWS.md · PROJECT_STRUCTURE.md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8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2026-05-30T23:33:51Z</dcterms:created>
  <dcterms:modified xsi:type="dcterms:W3CDTF">2026-05-30T23:33:51Z</dcterms:modified>
</cp:coreProperties>
</file>